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60" r:id="rId4"/>
    <p:sldId id="258" r:id="rId5"/>
    <p:sldId id="259" r:id="rId6"/>
    <p:sldId id="266" r:id="rId7"/>
    <p:sldId id="270" r:id="rId8"/>
    <p:sldId id="268" r:id="rId9"/>
    <p:sldId id="271" r:id="rId10"/>
    <p:sldId id="267" r:id="rId11"/>
    <p:sldId id="273" r:id="rId12"/>
    <p:sldId id="261" r:id="rId13"/>
    <p:sldId id="262" r:id="rId14"/>
    <p:sldId id="265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F1E83D-29A8-54C8-C369-3264E6051FBD}" v="3" dt="2025-12-16T19:51:54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5A05B-3245-49BF-A3C4-41BDFCA6D8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4A20A6-2258-4BFF-A20F-0438362D8AAB}">
      <dgm:prSet/>
      <dgm:spPr/>
      <dgm:t>
        <a:bodyPr/>
        <a:lstStyle/>
        <a:p>
          <a:pPr rtl="0"/>
          <a:r>
            <a:rPr lang="en-US" baseline="0" dirty="0" err="1"/>
            <a:t>SpotFi</a:t>
          </a:r>
          <a:r>
            <a:rPr lang="en-US" baseline="0" dirty="0"/>
            <a:t> combines phase </a:t>
          </a:r>
          <a:r>
            <a:rPr lang="en-US" baseline="0" dirty="0">
              <a:latin typeface="Franklin Gothic Demi Cond" panose="020B0706030402020204"/>
            </a:rPr>
            <a:t>calibration </a:t>
          </a:r>
          <a:r>
            <a:rPr lang="en-US" baseline="0" dirty="0"/>
            <a:t>+ </a:t>
          </a:r>
          <a:r>
            <a:rPr lang="en-US" baseline="0" dirty="0">
              <a:latin typeface="Franklin Gothic Demi Cond" panose="020B0706030402020204"/>
            </a:rPr>
            <a:t>MUSIC algorithm</a:t>
          </a:r>
          <a:endParaRPr lang="en-US" dirty="0"/>
        </a:p>
      </dgm:t>
    </dgm:pt>
    <dgm:pt modelId="{6573E8FF-DAAC-442E-AE48-DF56C0A22BF6}" type="parTrans" cxnId="{259C303C-45EA-4CE4-80D6-A235F91E15C7}">
      <dgm:prSet/>
      <dgm:spPr/>
      <dgm:t>
        <a:bodyPr/>
        <a:lstStyle/>
        <a:p>
          <a:endParaRPr lang="en-US"/>
        </a:p>
      </dgm:t>
    </dgm:pt>
    <dgm:pt modelId="{4EA9F067-7ED3-4F56-A142-394125437EEF}" type="sibTrans" cxnId="{259C303C-45EA-4CE4-80D6-A235F91E15C7}">
      <dgm:prSet/>
      <dgm:spPr/>
      <dgm:t>
        <a:bodyPr/>
        <a:lstStyle/>
        <a:p>
          <a:endParaRPr lang="en-US"/>
        </a:p>
      </dgm:t>
    </dgm:pt>
    <dgm:pt modelId="{4D2F4E21-F75B-4C13-B2FA-7949FCBA52FD}">
      <dgm:prSet/>
      <dgm:spPr/>
      <dgm:t>
        <a:bodyPr/>
        <a:lstStyle/>
        <a:p>
          <a:r>
            <a:rPr lang="en-US" baseline="0" dirty="0"/>
            <a:t>Assumes narrowband per subcarrier and linear antenna array</a:t>
          </a:r>
          <a:endParaRPr lang="en-US" dirty="0"/>
        </a:p>
      </dgm:t>
    </dgm:pt>
    <dgm:pt modelId="{4683B2EC-138A-4FEE-A67E-4D14FE7B3A30}" type="parTrans" cxnId="{2F01051A-837F-4EFB-8FE8-BFF12AF54EDC}">
      <dgm:prSet/>
      <dgm:spPr/>
      <dgm:t>
        <a:bodyPr/>
        <a:lstStyle/>
        <a:p>
          <a:endParaRPr lang="en-US"/>
        </a:p>
      </dgm:t>
    </dgm:pt>
    <dgm:pt modelId="{B3FA3747-95B2-42EF-9CDE-142EA6F2FC56}" type="sibTrans" cxnId="{2F01051A-837F-4EFB-8FE8-BFF12AF54EDC}">
      <dgm:prSet/>
      <dgm:spPr/>
      <dgm:t>
        <a:bodyPr/>
        <a:lstStyle/>
        <a:p>
          <a:endParaRPr lang="en-US"/>
        </a:p>
      </dgm:t>
    </dgm:pt>
    <dgm:pt modelId="{A706772F-6AA9-49F0-B25B-5698B4484474}">
      <dgm:prSet/>
      <dgm:spPr/>
      <dgm:t>
        <a:bodyPr/>
        <a:lstStyle/>
        <a:p>
          <a:r>
            <a:rPr lang="en-US" baseline="0" dirty="0"/>
            <a:t>Key steps</a:t>
          </a:r>
          <a:endParaRPr lang="en-US" dirty="0"/>
        </a:p>
      </dgm:t>
    </dgm:pt>
    <dgm:pt modelId="{19A9AF0B-A7F3-4D79-A551-72538B244F82}" type="parTrans" cxnId="{CE8B9532-6914-4AEF-9B16-509379177F06}">
      <dgm:prSet/>
      <dgm:spPr/>
      <dgm:t>
        <a:bodyPr/>
        <a:lstStyle/>
        <a:p>
          <a:endParaRPr lang="en-US"/>
        </a:p>
      </dgm:t>
    </dgm:pt>
    <dgm:pt modelId="{55C4AE5C-2A40-4DC6-AD7F-F79326718929}" type="sibTrans" cxnId="{CE8B9532-6914-4AEF-9B16-509379177F06}">
      <dgm:prSet/>
      <dgm:spPr/>
      <dgm:t>
        <a:bodyPr/>
        <a:lstStyle/>
        <a:p>
          <a:endParaRPr lang="en-US"/>
        </a:p>
      </dgm:t>
    </dgm:pt>
    <dgm:pt modelId="{0456C9B9-2922-4380-9AE9-1380741B7B87}">
      <dgm:prSet/>
      <dgm:spPr/>
      <dgm:t>
        <a:bodyPr/>
        <a:lstStyle/>
        <a:p>
          <a:r>
            <a:rPr lang="en-US" baseline="0" dirty="0"/>
            <a:t>Phase sanitization</a:t>
          </a:r>
          <a:endParaRPr lang="en-US" dirty="0"/>
        </a:p>
      </dgm:t>
    </dgm:pt>
    <dgm:pt modelId="{A7E22FBB-18BB-4F34-8F62-1F6EA30EB5B9}" type="parTrans" cxnId="{E5D4B1E4-6162-4BAE-9B69-A29018CDED44}">
      <dgm:prSet/>
      <dgm:spPr/>
      <dgm:t>
        <a:bodyPr/>
        <a:lstStyle/>
        <a:p>
          <a:endParaRPr lang="en-US"/>
        </a:p>
      </dgm:t>
    </dgm:pt>
    <dgm:pt modelId="{5C13A28A-F86F-4B0C-AD9B-E10A431E8E27}" type="sibTrans" cxnId="{E5D4B1E4-6162-4BAE-9B69-A29018CDED44}">
      <dgm:prSet/>
      <dgm:spPr/>
      <dgm:t>
        <a:bodyPr/>
        <a:lstStyle/>
        <a:p>
          <a:endParaRPr lang="en-US"/>
        </a:p>
      </dgm:t>
    </dgm:pt>
    <dgm:pt modelId="{E8505E4D-C92E-4052-9BE1-CB220FD6DDCE}">
      <dgm:prSet/>
      <dgm:spPr/>
      <dgm:t>
        <a:bodyPr/>
        <a:lstStyle/>
        <a:p>
          <a:r>
            <a:rPr lang="en-US" baseline="0" dirty="0"/>
            <a:t>Construct steering vectors</a:t>
          </a:r>
          <a:endParaRPr lang="en-US" dirty="0"/>
        </a:p>
      </dgm:t>
    </dgm:pt>
    <dgm:pt modelId="{77850979-8CF1-42FD-9225-6455E519B3C8}" type="parTrans" cxnId="{F593750A-AC09-488E-A30D-344049FA9760}">
      <dgm:prSet/>
      <dgm:spPr/>
      <dgm:t>
        <a:bodyPr/>
        <a:lstStyle/>
        <a:p>
          <a:endParaRPr lang="en-US"/>
        </a:p>
      </dgm:t>
    </dgm:pt>
    <dgm:pt modelId="{BFDA2582-6D39-4FF1-B77E-B16954BE150F}" type="sibTrans" cxnId="{F593750A-AC09-488E-A30D-344049FA9760}">
      <dgm:prSet/>
      <dgm:spPr/>
      <dgm:t>
        <a:bodyPr/>
        <a:lstStyle/>
        <a:p>
          <a:endParaRPr lang="en-US"/>
        </a:p>
      </dgm:t>
    </dgm:pt>
    <dgm:pt modelId="{632F42AA-C419-4A34-A973-1E90C756668C}">
      <dgm:prSet/>
      <dgm:spPr/>
      <dgm:t>
        <a:bodyPr/>
        <a:lstStyle/>
        <a:p>
          <a:r>
            <a:rPr lang="en-US" baseline="0" dirty="0"/>
            <a:t>Compute covariance matrix</a:t>
          </a:r>
          <a:endParaRPr lang="en-US" dirty="0"/>
        </a:p>
      </dgm:t>
    </dgm:pt>
    <dgm:pt modelId="{DB2D31C2-36CE-4B68-A7C6-8A5C70F37188}" type="parTrans" cxnId="{FB1A16CC-AD45-4CC8-B03B-3B119170991D}">
      <dgm:prSet/>
      <dgm:spPr/>
      <dgm:t>
        <a:bodyPr/>
        <a:lstStyle/>
        <a:p>
          <a:endParaRPr lang="en-US"/>
        </a:p>
      </dgm:t>
    </dgm:pt>
    <dgm:pt modelId="{63933F45-5557-43F4-8C37-96D923A8F2B4}" type="sibTrans" cxnId="{FB1A16CC-AD45-4CC8-B03B-3B119170991D}">
      <dgm:prSet/>
      <dgm:spPr/>
      <dgm:t>
        <a:bodyPr/>
        <a:lstStyle/>
        <a:p>
          <a:endParaRPr lang="en-US"/>
        </a:p>
      </dgm:t>
    </dgm:pt>
    <dgm:pt modelId="{888A4BC7-8ACF-4FBA-BEF8-91547BA9531F}">
      <dgm:prSet/>
      <dgm:spPr/>
      <dgm:t>
        <a:bodyPr/>
        <a:lstStyle/>
        <a:p>
          <a:r>
            <a:rPr lang="en-US" baseline="0" dirty="0"/>
            <a:t>Apply MUSIC algorithm to estimate </a:t>
          </a:r>
          <a:r>
            <a:rPr lang="en-US" baseline="0" dirty="0" err="1"/>
            <a:t>AoA</a:t>
          </a:r>
          <a:r>
            <a:rPr lang="en-US" baseline="0" dirty="0">
              <a:latin typeface="Franklin Gothic Demi Cond" panose="020B0706030402020204"/>
            </a:rPr>
            <a:t>/</a:t>
          </a:r>
          <a:r>
            <a:rPr lang="en-US" baseline="0" dirty="0" err="1">
              <a:latin typeface="Franklin Gothic Demi Cond" panose="020B0706030402020204"/>
            </a:rPr>
            <a:t>ToF</a:t>
          </a:r>
          <a:r>
            <a:rPr lang="en-US" baseline="0" dirty="0"/>
            <a:t> peaks</a:t>
          </a:r>
          <a:endParaRPr lang="en-US" dirty="0"/>
        </a:p>
      </dgm:t>
    </dgm:pt>
    <dgm:pt modelId="{F9E8627C-3195-4531-92D3-285426192334}" type="parTrans" cxnId="{1C2063BC-1EF3-4AE6-83C6-7E81E2EF658B}">
      <dgm:prSet/>
      <dgm:spPr/>
      <dgm:t>
        <a:bodyPr/>
        <a:lstStyle/>
        <a:p>
          <a:endParaRPr lang="en-US"/>
        </a:p>
      </dgm:t>
    </dgm:pt>
    <dgm:pt modelId="{A09F2434-DF64-402A-A06F-28FACED0A41D}" type="sibTrans" cxnId="{1C2063BC-1EF3-4AE6-83C6-7E81E2EF658B}">
      <dgm:prSet/>
      <dgm:spPr/>
      <dgm:t>
        <a:bodyPr/>
        <a:lstStyle/>
        <a:p>
          <a:endParaRPr lang="en-US"/>
        </a:p>
      </dgm:t>
    </dgm:pt>
    <dgm:pt modelId="{9E2263C6-D296-4CAC-A9C7-1498FDCB05D7}" type="pres">
      <dgm:prSet presAssocID="{F9F5A05B-3245-49BF-A3C4-41BDFCA6D814}" presName="linear" presStyleCnt="0">
        <dgm:presLayoutVars>
          <dgm:animLvl val="lvl"/>
          <dgm:resizeHandles val="exact"/>
        </dgm:presLayoutVars>
      </dgm:prSet>
      <dgm:spPr/>
    </dgm:pt>
    <dgm:pt modelId="{78597F14-F86A-4AA0-831C-D6F262420173}" type="pres">
      <dgm:prSet presAssocID="{044A20A6-2258-4BFF-A20F-0438362D8AA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73EE24-381F-468E-AFE7-5D831643C9B8}" type="pres">
      <dgm:prSet presAssocID="{4EA9F067-7ED3-4F56-A142-394125437EEF}" presName="spacer" presStyleCnt="0"/>
      <dgm:spPr/>
    </dgm:pt>
    <dgm:pt modelId="{62DAD338-0D6F-4897-880A-4698EF8DEE91}" type="pres">
      <dgm:prSet presAssocID="{4D2F4E21-F75B-4C13-B2FA-7949FCBA52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9F287B-A9B6-426C-9F43-A06201260D11}" type="pres">
      <dgm:prSet presAssocID="{B3FA3747-95B2-42EF-9CDE-142EA6F2FC56}" presName="spacer" presStyleCnt="0"/>
      <dgm:spPr/>
    </dgm:pt>
    <dgm:pt modelId="{84633995-179D-4046-B0A1-4AD4F922B4D8}" type="pres">
      <dgm:prSet presAssocID="{A706772F-6AA9-49F0-B25B-5698B448447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3393CB07-CCFC-4B24-A5B9-54AF46878ADC}" type="pres">
      <dgm:prSet presAssocID="{A706772F-6AA9-49F0-B25B-5698B448447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264F5001-2551-47FE-B5F3-A7795A5A4930}" type="presOf" srcId="{4D2F4E21-F75B-4C13-B2FA-7949FCBA52FD}" destId="{62DAD338-0D6F-4897-880A-4698EF8DEE91}" srcOrd="0" destOrd="0" presId="urn:microsoft.com/office/officeart/2005/8/layout/vList2"/>
    <dgm:cxn modelId="{F593750A-AC09-488E-A30D-344049FA9760}" srcId="{A706772F-6AA9-49F0-B25B-5698B4484474}" destId="{E8505E4D-C92E-4052-9BE1-CB220FD6DDCE}" srcOrd="1" destOrd="0" parTransId="{77850979-8CF1-42FD-9225-6455E519B3C8}" sibTransId="{BFDA2582-6D39-4FF1-B77E-B16954BE150F}"/>
    <dgm:cxn modelId="{2F01051A-837F-4EFB-8FE8-BFF12AF54EDC}" srcId="{F9F5A05B-3245-49BF-A3C4-41BDFCA6D814}" destId="{4D2F4E21-F75B-4C13-B2FA-7949FCBA52FD}" srcOrd="1" destOrd="0" parTransId="{4683B2EC-138A-4FEE-A67E-4D14FE7B3A30}" sibTransId="{B3FA3747-95B2-42EF-9CDE-142EA6F2FC56}"/>
    <dgm:cxn modelId="{AB9F651F-1AD8-4920-B3C6-2F902A883141}" type="presOf" srcId="{F9F5A05B-3245-49BF-A3C4-41BDFCA6D814}" destId="{9E2263C6-D296-4CAC-A9C7-1498FDCB05D7}" srcOrd="0" destOrd="0" presId="urn:microsoft.com/office/officeart/2005/8/layout/vList2"/>
    <dgm:cxn modelId="{CE8B9532-6914-4AEF-9B16-509379177F06}" srcId="{F9F5A05B-3245-49BF-A3C4-41BDFCA6D814}" destId="{A706772F-6AA9-49F0-B25B-5698B4484474}" srcOrd="2" destOrd="0" parTransId="{19A9AF0B-A7F3-4D79-A551-72538B244F82}" sibTransId="{55C4AE5C-2A40-4DC6-AD7F-F79326718929}"/>
    <dgm:cxn modelId="{259C303C-45EA-4CE4-80D6-A235F91E15C7}" srcId="{F9F5A05B-3245-49BF-A3C4-41BDFCA6D814}" destId="{044A20A6-2258-4BFF-A20F-0438362D8AAB}" srcOrd="0" destOrd="0" parTransId="{6573E8FF-DAAC-442E-AE48-DF56C0A22BF6}" sibTransId="{4EA9F067-7ED3-4F56-A142-394125437EEF}"/>
    <dgm:cxn modelId="{AE346E44-3269-4936-9840-3615B9D244C7}" type="presOf" srcId="{0456C9B9-2922-4380-9AE9-1380741B7B87}" destId="{3393CB07-CCFC-4B24-A5B9-54AF46878ADC}" srcOrd="0" destOrd="0" presId="urn:microsoft.com/office/officeart/2005/8/layout/vList2"/>
    <dgm:cxn modelId="{55001D6B-384C-49E6-B11E-F19A091F6018}" type="presOf" srcId="{E8505E4D-C92E-4052-9BE1-CB220FD6DDCE}" destId="{3393CB07-CCFC-4B24-A5B9-54AF46878ADC}" srcOrd="0" destOrd="1" presId="urn:microsoft.com/office/officeart/2005/8/layout/vList2"/>
    <dgm:cxn modelId="{088BC184-6D06-41BD-AC5C-BD40DE92BA0A}" type="presOf" srcId="{044A20A6-2258-4BFF-A20F-0438362D8AAB}" destId="{78597F14-F86A-4AA0-831C-D6F262420173}" srcOrd="0" destOrd="0" presId="urn:microsoft.com/office/officeart/2005/8/layout/vList2"/>
    <dgm:cxn modelId="{1C2063BC-1EF3-4AE6-83C6-7E81E2EF658B}" srcId="{A706772F-6AA9-49F0-B25B-5698B4484474}" destId="{888A4BC7-8ACF-4FBA-BEF8-91547BA9531F}" srcOrd="3" destOrd="0" parTransId="{F9E8627C-3195-4531-92D3-285426192334}" sibTransId="{A09F2434-DF64-402A-A06F-28FACED0A41D}"/>
    <dgm:cxn modelId="{FB1A16CC-AD45-4CC8-B03B-3B119170991D}" srcId="{A706772F-6AA9-49F0-B25B-5698B4484474}" destId="{632F42AA-C419-4A34-A973-1E90C756668C}" srcOrd="2" destOrd="0" parTransId="{DB2D31C2-36CE-4B68-A7C6-8A5C70F37188}" sibTransId="{63933F45-5557-43F4-8C37-96D923A8F2B4}"/>
    <dgm:cxn modelId="{49F002D5-B9BF-4D72-BD5B-B4303CDF7A82}" type="presOf" srcId="{632F42AA-C419-4A34-A973-1E90C756668C}" destId="{3393CB07-CCFC-4B24-A5B9-54AF46878ADC}" srcOrd="0" destOrd="2" presId="urn:microsoft.com/office/officeart/2005/8/layout/vList2"/>
    <dgm:cxn modelId="{D4F8EDD7-C70F-4C24-8E4A-AA5263787B2C}" type="presOf" srcId="{888A4BC7-8ACF-4FBA-BEF8-91547BA9531F}" destId="{3393CB07-CCFC-4B24-A5B9-54AF46878ADC}" srcOrd="0" destOrd="3" presId="urn:microsoft.com/office/officeart/2005/8/layout/vList2"/>
    <dgm:cxn modelId="{E5D4B1E4-6162-4BAE-9B69-A29018CDED44}" srcId="{A706772F-6AA9-49F0-B25B-5698B4484474}" destId="{0456C9B9-2922-4380-9AE9-1380741B7B87}" srcOrd="0" destOrd="0" parTransId="{A7E22FBB-18BB-4F34-8F62-1F6EA30EB5B9}" sibTransId="{5C13A28A-F86F-4B0C-AD9B-E10A431E8E27}"/>
    <dgm:cxn modelId="{E554E8F3-1A9D-400E-9C50-50F85505FCB5}" type="presOf" srcId="{A706772F-6AA9-49F0-B25B-5698B4484474}" destId="{84633995-179D-4046-B0A1-4AD4F922B4D8}" srcOrd="0" destOrd="0" presId="urn:microsoft.com/office/officeart/2005/8/layout/vList2"/>
    <dgm:cxn modelId="{2574D18C-CCAC-409C-82A5-75FAE8770197}" type="presParOf" srcId="{9E2263C6-D296-4CAC-A9C7-1498FDCB05D7}" destId="{78597F14-F86A-4AA0-831C-D6F262420173}" srcOrd="0" destOrd="0" presId="urn:microsoft.com/office/officeart/2005/8/layout/vList2"/>
    <dgm:cxn modelId="{9F3D1ADE-9B46-4902-85DA-1C8AAFACE322}" type="presParOf" srcId="{9E2263C6-D296-4CAC-A9C7-1498FDCB05D7}" destId="{FD73EE24-381F-468E-AFE7-5D831643C9B8}" srcOrd="1" destOrd="0" presId="urn:microsoft.com/office/officeart/2005/8/layout/vList2"/>
    <dgm:cxn modelId="{D82CD2B9-CF2B-44B0-8D7D-F8A1B0F80175}" type="presParOf" srcId="{9E2263C6-D296-4CAC-A9C7-1498FDCB05D7}" destId="{62DAD338-0D6F-4897-880A-4698EF8DEE91}" srcOrd="2" destOrd="0" presId="urn:microsoft.com/office/officeart/2005/8/layout/vList2"/>
    <dgm:cxn modelId="{E6451255-BC4C-4BD0-8C1A-EB4A7BB11ED0}" type="presParOf" srcId="{9E2263C6-D296-4CAC-A9C7-1498FDCB05D7}" destId="{6B9F287B-A9B6-426C-9F43-A06201260D11}" srcOrd="3" destOrd="0" presId="urn:microsoft.com/office/officeart/2005/8/layout/vList2"/>
    <dgm:cxn modelId="{E4490107-BDB8-4F44-A323-67456780BBB5}" type="presParOf" srcId="{9E2263C6-D296-4CAC-A9C7-1498FDCB05D7}" destId="{84633995-179D-4046-B0A1-4AD4F922B4D8}" srcOrd="4" destOrd="0" presId="urn:microsoft.com/office/officeart/2005/8/layout/vList2"/>
    <dgm:cxn modelId="{DD955EFF-4633-4690-B2C8-2760D7A94337}" type="presParOf" srcId="{9E2263C6-D296-4CAC-A9C7-1498FDCB05D7}" destId="{3393CB07-CCFC-4B24-A5B9-54AF46878AD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85D717-2683-4E20-BAFF-6EDEB73E610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75DBDF0-30E4-48BC-BD2A-590656B2A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Demi Cond" panose="020B0706030402020204"/>
            </a:rPr>
            <a:t>17276 Received</a:t>
          </a:r>
          <a:r>
            <a:rPr lang="en-US"/>
            <a:t> signals</a:t>
          </a:r>
        </a:p>
      </dgm:t>
    </dgm:pt>
    <dgm:pt modelId="{3DD7E741-BB7B-45FB-A2FF-24E91394031E}" type="parTrans" cxnId="{9A03EAC9-420D-4792-A8F1-8945E3071E97}">
      <dgm:prSet/>
      <dgm:spPr/>
      <dgm:t>
        <a:bodyPr/>
        <a:lstStyle/>
        <a:p>
          <a:endParaRPr lang="en-US"/>
        </a:p>
      </dgm:t>
    </dgm:pt>
    <dgm:pt modelId="{E77DB9E4-2F5C-4FAD-A78C-3F1EADA74B0B}" type="sibTrans" cxnId="{9A03EAC9-420D-4792-A8F1-8945E3071E97}">
      <dgm:prSet/>
      <dgm:spPr/>
      <dgm:t>
        <a:bodyPr/>
        <a:lstStyle/>
        <a:p>
          <a:endParaRPr lang="en-US"/>
        </a:p>
      </dgm:t>
    </dgm:pt>
    <dgm:pt modelId="{376155D0-08A3-49A5-A962-3868A8D40D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Complex signal</a:t>
          </a:r>
        </a:p>
      </dgm:t>
    </dgm:pt>
    <dgm:pt modelId="{94E8D991-1E2E-4925-B9D1-60998F152A75}" type="parTrans" cxnId="{49EE4D95-2D5C-4443-A518-42C7B0DA4139}">
      <dgm:prSet/>
      <dgm:spPr/>
      <dgm:t>
        <a:bodyPr/>
        <a:lstStyle/>
        <a:p>
          <a:endParaRPr lang="en-US"/>
        </a:p>
      </dgm:t>
    </dgm:pt>
    <dgm:pt modelId="{2253C5DD-FDBA-4CD3-9525-290DFB5FB9A4}" type="sibTrans" cxnId="{49EE4D95-2D5C-4443-A518-42C7B0DA4139}">
      <dgm:prSet/>
      <dgm:spPr/>
      <dgm:t>
        <a:bodyPr/>
        <a:lstStyle/>
        <a:p>
          <a:endParaRPr lang="en-US"/>
        </a:p>
      </dgm:t>
    </dgm:pt>
    <dgm:pt modelId="{A79A8078-C7C1-487D-BFCE-BD09B6D1C7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RSSI</a:t>
          </a:r>
        </a:p>
      </dgm:t>
    </dgm:pt>
    <dgm:pt modelId="{5AD3841D-D7CF-4064-8E95-E34D51E4C7EA}" type="parTrans" cxnId="{3023CEEF-50CD-4922-8412-7D15FED689E3}">
      <dgm:prSet/>
      <dgm:spPr/>
      <dgm:t>
        <a:bodyPr/>
        <a:lstStyle/>
        <a:p>
          <a:endParaRPr lang="en-US"/>
        </a:p>
      </dgm:t>
    </dgm:pt>
    <dgm:pt modelId="{B6A631C8-5B29-4B98-913F-45DD385C927D}" type="sibTrans" cxnId="{3023CEEF-50CD-4922-8412-7D15FED689E3}">
      <dgm:prSet/>
      <dgm:spPr/>
      <dgm:t>
        <a:bodyPr/>
        <a:lstStyle/>
        <a:p>
          <a:endParaRPr lang="en-US"/>
        </a:p>
      </dgm:t>
    </dgm:pt>
    <dgm:pt modelId="{EDB82D32-8FE8-4FAB-A6E4-E4EBEA06A1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6 </a:t>
          </a:r>
          <a:r>
            <a:rPr lang="en-US" err="1"/>
            <a:t>WiFi</a:t>
          </a:r>
          <a:r>
            <a:rPr lang="en-US"/>
            <a:t> AP</a:t>
          </a:r>
        </a:p>
      </dgm:t>
    </dgm:pt>
    <dgm:pt modelId="{301D81CE-416D-4E11-B636-771CE5BD75AE}" type="parTrans" cxnId="{D8570618-062B-4DD2-949C-C4CD6EF53951}">
      <dgm:prSet/>
      <dgm:spPr/>
      <dgm:t>
        <a:bodyPr/>
        <a:lstStyle/>
        <a:p>
          <a:endParaRPr lang="en-US"/>
        </a:p>
      </dgm:t>
    </dgm:pt>
    <dgm:pt modelId="{36F99AF9-919A-45F3-8E0D-961BA2571905}" type="sibTrans" cxnId="{D8570618-062B-4DD2-949C-C4CD6EF53951}">
      <dgm:prSet/>
      <dgm:spPr/>
      <dgm:t>
        <a:bodyPr/>
        <a:lstStyle/>
        <a:p>
          <a:endParaRPr lang="en-US"/>
        </a:p>
      </dgm:t>
    </dgm:pt>
    <dgm:pt modelId="{0FED9FEA-98A6-42A2-9BDF-847C5A257F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Known Locations</a:t>
          </a:r>
        </a:p>
      </dgm:t>
    </dgm:pt>
    <dgm:pt modelId="{FD5FCFE3-071B-4B3D-B873-B2C8B37E14FE}" type="parTrans" cxnId="{D2E8EB7F-20DB-4565-8BC2-083A881BBF57}">
      <dgm:prSet/>
      <dgm:spPr/>
      <dgm:t>
        <a:bodyPr/>
        <a:lstStyle/>
        <a:p>
          <a:endParaRPr lang="en-US"/>
        </a:p>
      </dgm:t>
    </dgm:pt>
    <dgm:pt modelId="{0F308986-91AC-4326-A6FB-7F5201461928}" type="sibTrans" cxnId="{D2E8EB7F-20DB-4565-8BC2-083A881BBF57}">
      <dgm:prSet/>
      <dgm:spPr/>
      <dgm:t>
        <a:bodyPr/>
        <a:lstStyle/>
        <a:p>
          <a:endParaRPr lang="en-US"/>
        </a:p>
      </dgm:t>
    </dgm:pt>
    <dgm:pt modelId="{67399937-6738-433C-BE56-6BDAB8425FC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Demi Cond" panose="020B0706030402020204"/>
            </a:rPr>
            <a:t>234 subcarriers</a:t>
          </a:r>
        </a:p>
      </dgm:t>
    </dgm:pt>
    <dgm:pt modelId="{F57A740F-D2DF-4740-AE80-1A8EE886C66A}" type="parTrans" cxnId="{A05F7FB8-5CA8-4A0E-B94F-B58C1383CA57}">
      <dgm:prSet/>
      <dgm:spPr/>
    </dgm:pt>
    <dgm:pt modelId="{54B18435-D7E8-432C-A83D-7BC563DB818B}" type="sibTrans" cxnId="{A05F7FB8-5CA8-4A0E-B94F-B58C1383CA57}">
      <dgm:prSet/>
      <dgm:spPr/>
    </dgm:pt>
    <dgm:pt modelId="{26806E61-40E5-40C7-9D26-FF9AF118F99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Demi Cond" panose="020B0706030402020204"/>
            </a:rPr>
            <a:t>4 antennas</a:t>
          </a:r>
        </a:p>
      </dgm:t>
    </dgm:pt>
    <dgm:pt modelId="{F73A7F3A-2D61-4625-A5D1-6EFF34695FBA}" type="parTrans" cxnId="{2DC33327-8ED8-4270-BB8F-F712F3836F7F}">
      <dgm:prSet/>
      <dgm:spPr/>
    </dgm:pt>
    <dgm:pt modelId="{7D5A8EE6-9126-49D7-B762-846B5704959F}" type="sibTrans" cxnId="{2DC33327-8ED8-4270-BB8F-F712F3836F7F}">
      <dgm:prSet/>
      <dgm:spPr/>
    </dgm:pt>
    <dgm:pt modelId="{666C8AD4-56C4-4AAB-90AE-6641C2A7DF21}" type="pres">
      <dgm:prSet presAssocID="{B985D717-2683-4E20-BAFF-6EDEB73E610D}" presName="root" presStyleCnt="0">
        <dgm:presLayoutVars>
          <dgm:dir/>
          <dgm:resizeHandles val="exact"/>
        </dgm:presLayoutVars>
      </dgm:prSet>
      <dgm:spPr/>
    </dgm:pt>
    <dgm:pt modelId="{8F359198-0904-4B31-A78E-A49B6F7C882E}" type="pres">
      <dgm:prSet presAssocID="{C75DBDF0-30E4-48BC-BD2A-590656B2A725}" presName="compNode" presStyleCnt="0"/>
      <dgm:spPr/>
    </dgm:pt>
    <dgm:pt modelId="{C0C7F206-3F23-46D7-BEF3-E249688D5998}" type="pres">
      <dgm:prSet presAssocID="{C75DBDF0-30E4-48BC-BD2A-590656B2A725}" presName="bgRect" presStyleLbl="bgShp" presStyleIdx="0" presStyleCnt="2"/>
      <dgm:spPr/>
    </dgm:pt>
    <dgm:pt modelId="{CDC5FC7D-BC59-4C48-B680-E493780AC758}" type="pres">
      <dgm:prSet presAssocID="{C75DBDF0-30E4-48BC-BD2A-590656B2A72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BDFAE90-2802-4D4A-A9C2-AEDB4085DD26}" type="pres">
      <dgm:prSet presAssocID="{C75DBDF0-30E4-48BC-BD2A-590656B2A725}" presName="spaceRect" presStyleCnt="0"/>
      <dgm:spPr/>
    </dgm:pt>
    <dgm:pt modelId="{21D2B5F6-3884-4EE9-A22C-EC939422917F}" type="pres">
      <dgm:prSet presAssocID="{C75DBDF0-30E4-48BC-BD2A-590656B2A725}" presName="parTx" presStyleLbl="revTx" presStyleIdx="0" presStyleCnt="4">
        <dgm:presLayoutVars>
          <dgm:chMax val="0"/>
          <dgm:chPref val="0"/>
        </dgm:presLayoutVars>
      </dgm:prSet>
      <dgm:spPr/>
    </dgm:pt>
    <dgm:pt modelId="{662F36FE-EEF4-4EBE-B045-49164CE898FF}" type="pres">
      <dgm:prSet presAssocID="{C75DBDF0-30E4-48BC-BD2A-590656B2A725}" presName="desTx" presStyleLbl="revTx" presStyleIdx="1" presStyleCnt="4">
        <dgm:presLayoutVars/>
      </dgm:prSet>
      <dgm:spPr/>
    </dgm:pt>
    <dgm:pt modelId="{2F4EA6C4-2AB7-4639-B78C-ECF2BD5B6F13}" type="pres">
      <dgm:prSet presAssocID="{E77DB9E4-2F5C-4FAD-A78C-3F1EADA74B0B}" presName="sibTrans" presStyleCnt="0"/>
      <dgm:spPr/>
    </dgm:pt>
    <dgm:pt modelId="{269531B4-9837-4E0C-94D1-2C7D2930649F}" type="pres">
      <dgm:prSet presAssocID="{EDB82D32-8FE8-4FAB-A6E4-E4EBEA06A164}" presName="compNode" presStyleCnt="0"/>
      <dgm:spPr/>
    </dgm:pt>
    <dgm:pt modelId="{FF9C8230-5B2C-4F9D-AD2B-810002F86848}" type="pres">
      <dgm:prSet presAssocID="{EDB82D32-8FE8-4FAB-A6E4-E4EBEA06A164}" presName="bgRect" presStyleLbl="bgShp" presStyleIdx="1" presStyleCnt="2"/>
      <dgm:spPr/>
    </dgm:pt>
    <dgm:pt modelId="{BBA4CA81-425B-4A8D-80EA-3825D4DEB709}" type="pres">
      <dgm:prSet presAssocID="{EDB82D32-8FE8-4FAB-A6E4-E4EBEA06A16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B3F17C69-9142-40B6-B820-42635C7AE2D3}" type="pres">
      <dgm:prSet presAssocID="{EDB82D32-8FE8-4FAB-A6E4-E4EBEA06A164}" presName="spaceRect" presStyleCnt="0"/>
      <dgm:spPr/>
    </dgm:pt>
    <dgm:pt modelId="{F9B25C46-D626-4061-89CD-D4AB51CF4993}" type="pres">
      <dgm:prSet presAssocID="{EDB82D32-8FE8-4FAB-A6E4-E4EBEA06A164}" presName="parTx" presStyleLbl="revTx" presStyleIdx="2" presStyleCnt="4">
        <dgm:presLayoutVars>
          <dgm:chMax val="0"/>
          <dgm:chPref val="0"/>
        </dgm:presLayoutVars>
      </dgm:prSet>
      <dgm:spPr/>
    </dgm:pt>
    <dgm:pt modelId="{EF553483-7DD9-44E4-BE34-4A69A578A442}" type="pres">
      <dgm:prSet presAssocID="{EDB82D32-8FE8-4FAB-A6E4-E4EBEA06A164}" presName="desTx" presStyleLbl="revTx" presStyleIdx="3" presStyleCnt="4">
        <dgm:presLayoutVars/>
      </dgm:prSet>
      <dgm:spPr/>
    </dgm:pt>
  </dgm:ptLst>
  <dgm:cxnLst>
    <dgm:cxn modelId="{D8570618-062B-4DD2-949C-C4CD6EF53951}" srcId="{B985D717-2683-4E20-BAFF-6EDEB73E610D}" destId="{EDB82D32-8FE8-4FAB-A6E4-E4EBEA06A164}" srcOrd="1" destOrd="0" parTransId="{301D81CE-416D-4E11-B636-771CE5BD75AE}" sibTransId="{36F99AF9-919A-45F3-8E0D-961BA2571905}"/>
    <dgm:cxn modelId="{2DC33327-8ED8-4270-BB8F-F712F3836F7F}" srcId="{EDB82D32-8FE8-4FAB-A6E4-E4EBEA06A164}" destId="{26806E61-40E5-40C7-9D26-FF9AF118F996}" srcOrd="0" destOrd="0" parTransId="{F73A7F3A-2D61-4625-A5D1-6EFF34695FBA}" sibTransId="{7D5A8EE6-9126-49D7-B762-846B5704959F}"/>
    <dgm:cxn modelId="{D433E537-EE96-42A4-A81C-095453DEC419}" type="presOf" srcId="{EDB82D32-8FE8-4FAB-A6E4-E4EBEA06A164}" destId="{F9B25C46-D626-4061-89CD-D4AB51CF4993}" srcOrd="0" destOrd="0" presId="urn:microsoft.com/office/officeart/2018/2/layout/IconVerticalSolidList"/>
    <dgm:cxn modelId="{7489F04C-2C85-48B3-9635-5457B3C80CCF}" type="presOf" srcId="{0FED9FEA-98A6-42A2-9BDF-847C5A257F3A}" destId="{EF553483-7DD9-44E4-BE34-4A69A578A442}" srcOrd="0" destOrd="2" presId="urn:microsoft.com/office/officeart/2018/2/layout/IconVerticalSolidList"/>
    <dgm:cxn modelId="{4F52F54F-9301-4BD4-AE29-B18B3E6D7E4E}" type="presOf" srcId="{26806E61-40E5-40C7-9D26-FF9AF118F996}" destId="{EF553483-7DD9-44E4-BE34-4A69A578A442}" srcOrd="0" destOrd="0" presId="urn:microsoft.com/office/officeart/2018/2/layout/IconVerticalSolidList"/>
    <dgm:cxn modelId="{95AE3756-7B92-45FF-8C9D-CFF5A1AC8C75}" type="presOf" srcId="{A79A8078-C7C1-487D-BFCE-BD09B6D1C790}" destId="{662F36FE-EEF4-4EBE-B045-49164CE898FF}" srcOrd="0" destOrd="1" presId="urn:microsoft.com/office/officeart/2018/2/layout/IconVerticalSolidList"/>
    <dgm:cxn modelId="{D2E8EB7F-20DB-4565-8BC2-083A881BBF57}" srcId="{EDB82D32-8FE8-4FAB-A6E4-E4EBEA06A164}" destId="{0FED9FEA-98A6-42A2-9BDF-847C5A257F3A}" srcOrd="2" destOrd="0" parTransId="{FD5FCFE3-071B-4B3D-B873-B2C8B37E14FE}" sibTransId="{0F308986-91AC-4326-A6FB-7F5201461928}"/>
    <dgm:cxn modelId="{BE340C86-EC78-4339-B14B-3C7F04A9ADD8}" type="presOf" srcId="{B985D717-2683-4E20-BAFF-6EDEB73E610D}" destId="{666C8AD4-56C4-4AAB-90AE-6641C2A7DF21}" srcOrd="0" destOrd="0" presId="urn:microsoft.com/office/officeart/2018/2/layout/IconVerticalSolidList"/>
    <dgm:cxn modelId="{49EE4D95-2D5C-4443-A518-42C7B0DA4139}" srcId="{C75DBDF0-30E4-48BC-BD2A-590656B2A725}" destId="{376155D0-08A3-49A5-A962-3868A8D40D4E}" srcOrd="0" destOrd="0" parTransId="{94E8D991-1E2E-4925-B9D1-60998F152A75}" sibTransId="{2253C5DD-FDBA-4CD3-9525-290DFB5FB9A4}"/>
    <dgm:cxn modelId="{A05F7FB8-5CA8-4A0E-B94F-B58C1383CA57}" srcId="{EDB82D32-8FE8-4FAB-A6E4-E4EBEA06A164}" destId="{67399937-6738-433C-BE56-6BDAB8425FC8}" srcOrd="1" destOrd="0" parTransId="{F57A740F-D2DF-4740-AE80-1A8EE886C66A}" sibTransId="{54B18435-D7E8-432C-A83D-7BC563DB818B}"/>
    <dgm:cxn modelId="{D05553C7-9C4C-497B-AE10-ACE8CD7DF561}" type="presOf" srcId="{376155D0-08A3-49A5-A962-3868A8D40D4E}" destId="{662F36FE-EEF4-4EBE-B045-49164CE898FF}" srcOrd="0" destOrd="0" presId="urn:microsoft.com/office/officeart/2018/2/layout/IconVerticalSolidList"/>
    <dgm:cxn modelId="{9A03EAC9-420D-4792-A8F1-8945E3071E97}" srcId="{B985D717-2683-4E20-BAFF-6EDEB73E610D}" destId="{C75DBDF0-30E4-48BC-BD2A-590656B2A725}" srcOrd="0" destOrd="0" parTransId="{3DD7E741-BB7B-45FB-A2FF-24E91394031E}" sibTransId="{E77DB9E4-2F5C-4FAD-A78C-3F1EADA74B0B}"/>
    <dgm:cxn modelId="{5096C0E3-56EA-4EF8-A9E8-CD19702726A9}" type="presOf" srcId="{C75DBDF0-30E4-48BC-BD2A-590656B2A725}" destId="{21D2B5F6-3884-4EE9-A22C-EC939422917F}" srcOrd="0" destOrd="0" presId="urn:microsoft.com/office/officeart/2018/2/layout/IconVerticalSolidList"/>
    <dgm:cxn modelId="{3023CEEF-50CD-4922-8412-7D15FED689E3}" srcId="{C75DBDF0-30E4-48BC-BD2A-590656B2A725}" destId="{A79A8078-C7C1-487D-BFCE-BD09B6D1C790}" srcOrd="1" destOrd="0" parTransId="{5AD3841D-D7CF-4064-8E95-E34D51E4C7EA}" sibTransId="{B6A631C8-5B29-4B98-913F-45DD385C927D}"/>
    <dgm:cxn modelId="{B9A49BF0-5A83-4E78-ADB3-F9A2B185CC31}" type="presOf" srcId="{67399937-6738-433C-BE56-6BDAB8425FC8}" destId="{EF553483-7DD9-44E4-BE34-4A69A578A442}" srcOrd="0" destOrd="1" presId="urn:microsoft.com/office/officeart/2018/2/layout/IconVerticalSolidList"/>
    <dgm:cxn modelId="{7D0DD061-4375-47A7-98A8-080A4A9D9B99}" type="presParOf" srcId="{666C8AD4-56C4-4AAB-90AE-6641C2A7DF21}" destId="{8F359198-0904-4B31-A78E-A49B6F7C882E}" srcOrd="0" destOrd="0" presId="urn:microsoft.com/office/officeart/2018/2/layout/IconVerticalSolidList"/>
    <dgm:cxn modelId="{06212F27-8F30-4B31-A81A-30FCC1242258}" type="presParOf" srcId="{8F359198-0904-4B31-A78E-A49B6F7C882E}" destId="{C0C7F206-3F23-46D7-BEF3-E249688D5998}" srcOrd="0" destOrd="0" presId="urn:microsoft.com/office/officeart/2018/2/layout/IconVerticalSolidList"/>
    <dgm:cxn modelId="{DDFB81D9-94EB-4018-ACDD-F03292F4D0F2}" type="presParOf" srcId="{8F359198-0904-4B31-A78E-A49B6F7C882E}" destId="{CDC5FC7D-BC59-4C48-B680-E493780AC758}" srcOrd="1" destOrd="0" presId="urn:microsoft.com/office/officeart/2018/2/layout/IconVerticalSolidList"/>
    <dgm:cxn modelId="{841CF166-FA36-4B0B-B4ED-798A0196D3C3}" type="presParOf" srcId="{8F359198-0904-4B31-A78E-A49B6F7C882E}" destId="{8BDFAE90-2802-4D4A-A9C2-AEDB4085DD26}" srcOrd="2" destOrd="0" presId="urn:microsoft.com/office/officeart/2018/2/layout/IconVerticalSolidList"/>
    <dgm:cxn modelId="{8CCB14FE-885F-4C7C-8311-499D5F8F2A11}" type="presParOf" srcId="{8F359198-0904-4B31-A78E-A49B6F7C882E}" destId="{21D2B5F6-3884-4EE9-A22C-EC939422917F}" srcOrd="3" destOrd="0" presId="urn:microsoft.com/office/officeart/2018/2/layout/IconVerticalSolidList"/>
    <dgm:cxn modelId="{E8BD4E65-BCED-4060-9C01-8FD10FBDEA26}" type="presParOf" srcId="{8F359198-0904-4B31-A78E-A49B6F7C882E}" destId="{662F36FE-EEF4-4EBE-B045-49164CE898FF}" srcOrd="4" destOrd="0" presId="urn:microsoft.com/office/officeart/2018/2/layout/IconVerticalSolidList"/>
    <dgm:cxn modelId="{6E727F59-36C7-46A1-9113-794DF009C2D8}" type="presParOf" srcId="{666C8AD4-56C4-4AAB-90AE-6641C2A7DF21}" destId="{2F4EA6C4-2AB7-4639-B78C-ECF2BD5B6F13}" srcOrd="1" destOrd="0" presId="urn:microsoft.com/office/officeart/2018/2/layout/IconVerticalSolidList"/>
    <dgm:cxn modelId="{A363589D-269C-491A-A480-536E4EB53136}" type="presParOf" srcId="{666C8AD4-56C4-4AAB-90AE-6641C2A7DF21}" destId="{269531B4-9837-4E0C-94D1-2C7D2930649F}" srcOrd="2" destOrd="0" presId="urn:microsoft.com/office/officeart/2018/2/layout/IconVerticalSolidList"/>
    <dgm:cxn modelId="{880B2C16-B69A-42D8-9889-3430A48D8E88}" type="presParOf" srcId="{269531B4-9837-4E0C-94D1-2C7D2930649F}" destId="{FF9C8230-5B2C-4F9D-AD2B-810002F86848}" srcOrd="0" destOrd="0" presId="urn:microsoft.com/office/officeart/2018/2/layout/IconVerticalSolidList"/>
    <dgm:cxn modelId="{DD7DB07A-09AA-473F-951A-B6E14EC359DA}" type="presParOf" srcId="{269531B4-9837-4E0C-94D1-2C7D2930649F}" destId="{BBA4CA81-425B-4A8D-80EA-3825D4DEB709}" srcOrd="1" destOrd="0" presId="urn:microsoft.com/office/officeart/2018/2/layout/IconVerticalSolidList"/>
    <dgm:cxn modelId="{5188D138-6B5F-4DE9-AFA2-56736023AD8F}" type="presParOf" srcId="{269531B4-9837-4E0C-94D1-2C7D2930649F}" destId="{B3F17C69-9142-40B6-B820-42635C7AE2D3}" srcOrd="2" destOrd="0" presId="urn:microsoft.com/office/officeart/2018/2/layout/IconVerticalSolidList"/>
    <dgm:cxn modelId="{68E6A89C-7233-4CE7-B278-E91CDA773CA8}" type="presParOf" srcId="{269531B4-9837-4E0C-94D1-2C7D2930649F}" destId="{F9B25C46-D626-4061-89CD-D4AB51CF4993}" srcOrd="3" destOrd="0" presId="urn:microsoft.com/office/officeart/2018/2/layout/IconVerticalSolidList"/>
    <dgm:cxn modelId="{F216F0F8-8A5D-4EBA-A2A7-FBB94257600F}" type="presParOf" srcId="{269531B4-9837-4E0C-94D1-2C7D2930649F}" destId="{EF553483-7DD9-44E4-BE34-4A69A578A442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97F14-F86A-4AA0-831C-D6F262420173}">
      <dsp:nvSpPr>
        <dsp:cNvPr id="0" name=""/>
        <dsp:cNvSpPr/>
      </dsp:nvSpPr>
      <dsp:spPr>
        <a:xfrm>
          <a:off x="0" y="434060"/>
          <a:ext cx="770153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 err="1"/>
            <a:t>SpotFi</a:t>
          </a:r>
          <a:r>
            <a:rPr lang="en-US" sz="2200" kern="1200" baseline="0" dirty="0"/>
            <a:t> combines phase </a:t>
          </a:r>
          <a:r>
            <a:rPr lang="en-US" sz="2200" kern="1200" baseline="0" dirty="0">
              <a:latin typeface="Franklin Gothic Demi Cond" panose="020B0706030402020204"/>
            </a:rPr>
            <a:t>calibration </a:t>
          </a:r>
          <a:r>
            <a:rPr lang="en-US" sz="2200" kern="1200" baseline="0" dirty="0"/>
            <a:t>+ </a:t>
          </a:r>
          <a:r>
            <a:rPr lang="en-US" sz="2200" kern="1200" baseline="0" dirty="0">
              <a:latin typeface="Franklin Gothic Demi Cond" panose="020B0706030402020204"/>
            </a:rPr>
            <a:t>MUSIC algorithm</a:t>
          </a:r>
          <a:endParaRPr lang="en-US" sz="2200" kern="1200" dirty="0"/>
        </a:p>
      </dsp:txBody>
      <dsp:txXfrm>
        <a:off x="24502" y="458562"/>
        <a:ext cx="7652530" cy="452926"/>
      </dsp:txXfrm>
    </dsp:sp>
    <dsp:sp modelId="{62DAD338-0D6F-4897-880A-4698EF8DEE91}">
      <dsp:nvSpPr>
        <dsp:cNvPr id="0" name=""/>
        <dsp:cNvSpPr/>
      </dsp:nvSpPr>
      <dsp:spPr>
        <a:xfrm>
          <a:off x="0" y="999350"/>
          <a:ext cx="770153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Assumes narrowband per subcarrier and linear antenna array</a:t>
          </a:r>
          <a:endParaRPr lang="en-US" sz="2200" kern="1200" dirty="0"/>
        </a:p>
      </dsp:txBody>
      <dsp:txXfrm>
        <a:off x="24502" y="1023852"/>
        <a:ext cx="7652530" cy="452926"/>
      </dsp:txXfrm>
    </dsp:sp>
    <dsp:sp modelId="{84633995-179D-4046-B0A1-4AD4F922B4D8}">
      <dsp:nvSpPr>
        <dsp:cNvPr id="0" name=""/>
        <dsp:cNvSpPr/>
      </dsp:nvSpPr>
      <dsp:spPr>
        <a:xfrm>
          <a:off x="0" y="1564640"/>
          <a:ext cx="7701534" cy="5019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Key steps</a:t>
          </a:r>
          <a:endParaRPr lang="en-US" sz="2200" kern="1200" dirty="0"/>
        </a:p>
      </dsp:txBody>
      <dsp:txXfrm>
        <a:off x="24502" y="1589142"/>
        <a:ext cx="7652530" cy="452926"/>
      </dsp:txXfrm>
    </dsp:sp>
    <dsp:sp modelId="{3393CB07-CCFC-4B24-A5B9-54AF46878ADC}">
      <dsp:nvSpPr>
        <dsp:cNvPr id="0" name=""/>
        <dsp:cNvSpPr/>
      </dsp:nvSpPr>
      <dsp:spPr>
        <a:xfrm>
          <a:off x="0" y="2066571"/>
          <a:ext cx="7701534" cy="1092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452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baseline="0" dirty="0"/>
            <a:t>Phase sanitization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baseline="0" dirty="0"/>
            <a:t>Construct steering vectors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baseline="0" dirty="0"/>
            <a:t>Compute covariance matrix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baseline="0" dirty="0"/>
            <a:t>Apply MUSIC algorithm to estimate </a:t>
          </a:r>
          <a:r>
            <a:rPr lang="en-US" sz="1700" kern="1200" baseline="0" dirty="0" err="1"/>
            <a:t>AoA</a:t>
          </a:r>
          <a:r>
            <a:rPr lang="en-US" sz="1700" kern="1200" baseline="0" dirty="0">
              <a:latin typeface="Franklin Gothic Demi Cond" panose="020B0706030402020204"/>
            </a:rPr>
            <a:t>/</a:t>
          </a:r>
          <a:r>
            <a:rPr lang="en-US" sz="1700" kern="1200" baseline="0" dirty="0" err="1">
              <a:latin typeface="Franklin Gothic Demi Cond" panose="020B0706030402020204"/>
            </a:rPr>
            <a:t>ToF</a:t>
          </a:r>
          <a:r>
            <a:rPr lang="en-US" sz="1700" kern="1200" baseline="0" dirty="0"/>
            <a:t> peaks</a:t>
          </a:r>
          <a:endParaRPr lang="en-US" sz="1700" kern="1200" dirty="0"/>
        </a:p>
      </dsp:txBody>
      <dsp:txXfrm>
        <a:off x="0" y="2066571"/>
        <a:ext cx="7701534" cy="10929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7F206-3F23-46D7-BEF3-E249688D5998}">
      <dsp:nvSpPr>
        <dsp:cNvPr id="0" name=""/>
        <dsp:cNvSpPr/>
      </dsp:nvSpPr>
      <dsp:spPr>
        <a:xfrm>
          <a:off x="0" y="583958"/>
          <a:ext cx="7701534" cy="107807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C5FC7D-BC59-4C48-B680-E493780AC758}">
      <dsp:nvSpPr>
        <dsp:cNvPr id="0" name=""/>
        <dsp:cNvSpPr/>
      </dsp:nvSpPr>
      <dsp:spPr>
        <a:xfrm>
          <a:off x="326118" y="826526"/>
          <a:ext cx="592942" cy="5929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D2B5F6-3884-4EE9-A22C-EC939422917F}">
      <dsp:nvSpPr>
        <dsp:cNvPr id="0" name=""/>
        <dsp:cNvSpPr/>
      </dsp:nvSpPr>
      <dsp:spPr>
        <a:xfrm>
          <a:off x="1245179" y="583958"/>
          <a:ext cx="3465690" cy="10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97" tIns="114097" rIns="114097" bIns="1140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Franklin Gothic Demi Cond" panose="020B0706030402020204"/>
            </a:rPr>
            <a:t>17276 Received</a:t>
          </a:r>
          <a:r>
            <a:rPr lang="en-US" sz="2500" kern="1200"/>
            <a:t> signals</a:t>
          </a:r>
        </a:p>
      </dsp:txBody>
      <dsp:txXfrm>
        <a:off x="1245179" y="583958"/>
        <a:ext cx="3465690" cy="1078077"/>
      </dsp:txXfrm>
    </dsp:sp>
    <dsp:sp modelId="{662F36FE-EEF4-4EBE-B045-49164CE898FF}">
      <dsp:nvSpPr>
        <dsp:cNvPr id="0" name=""/>
        <dsp:cNvSpPr/>
      </dsp:nvSpPr>
      <dsp:spPr>
        <a:xfrm>
          <a:off x="4710869" y="583958"/>
          <a:ext cx="2990664" cy="10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97" tIns="114097" rIns="114097" bIns="1140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Complex signal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RSSI</a:t>
          </a:r>
        </a:p>
      </dsp:txBody>
      <dsp:txXfrm>
        <a:off x="4710869" y="583958"/>
        <a:ext cx="2990664" cy="1078077"/>
      </dsp:txXfrm>
    </dsp:sp>
    <dsp:sp modelId="{FF9C8230-5B2C-4F9D-AD2B-810002F86848}">
      <dsp:nvSpPr>
        <dsp:cNvPr id="0" name=""/>
        <dsp:cNvSpPr/>
      </dsp:nvSpPr>
      <dsp:spPr>
        <a:xfrm>
          <a:off x="0" y="1931555"/>
          <a:ext cx="7701534" cy="107807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A4CA81-425B-4A8D-80EA-3825D4DEB709}">
      <dsp:nvSpPr>
        <dsp:cNvPr id="0" name=""/>
        <dsp:cNvSpPr/>
      </dsp:nvSpPr>
      <dsp:spPr>
        <a:xfrm>
          <a:off x="326118" y="2174123"/>
          <a:ext cx="592942" cy="5929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25C46-D626-4061-89CD-D4AB51CF4993}">
      <dsp:nvSpPr>
        <dsp:cNvPr id="0" name=""/>
        <dsp:cNvSpPr/>
      </dsp:nvSpPr>
      <dsp:spPr>
        <a:xfrm>
          <a:off x="1245179" y="1931555"/>
          <a:ext cx="3465690" cy="10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97" tIns="114097" rIns="114097" bIns="11409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6 </a:t>
          </a:r>
          <a:r>
            <a:rPr lang="en-US" sz="2500" kern="1200" err="1"/>
            <a:t>WiFi</a:t>
          </a:r>
          <a:r>
            <a:rPr lang="en-US" sz="2500" kern="1200"/>
            <a:t> AP</a:t>
          </a:r>
        </a:p>
      </dsp:txBody>
      <dsp:txXfrm>
        <a:off x="1245179" y="1931555"/>
        <a:ext cx="3465690" cy="1078077"/>
      </dsp:txXfrm>
    </dsp:sp>
    <dsp:sp modelId="{EF553483-7DD9-44E4-BE34-4A69A578A442}">
      <dsp:nvSpPr>
        <dsp:cNvPr id="0" name=""/>
        <dsp:cNvSpPr/>
      </dsp:nvSpPr>
      <dsp:spPr>
        <a:xfrm>
          <a:off x="4710869" y="1931555"/>
          <a:ext cx="2990664" cy="10780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97" tIns="114097" rIns="114097" bIns="114097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Franklin Gothic Demi Cond" panose="020B0706030402020204"/>
            </a:rPr>
            <a:t>4 antennas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Franklin Gothic Demi Cond" panose="020B0706030402020204"/>
            </a:rPr>
            <a:t>234 subcarriers</a:t>
          </a:r>
        </a:p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Known Locations</a:t>
          </a:r>
        </a:p>
      </dsp:txBody>
      <dsp:txXfrm>
        <a:off x="4710869" y="1931555"/>
        <a:ext cx="2990664" cy="1078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9144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90" y="640080"/>
            <a:ext cx="7701534" cy="3227832"/>
          </a:xfrm>
        </p:spPr>
        <p:txBody>
          <a:bodyPr anchor="b">
            <a:normAutofit/>
          </a:bodyPr>
          <a:lstStyle>
            <a:lvl1pPr algn="ctr">
              <a:defRPr sz="11733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90" y="4526280"/>
            <a:ext cx="7701534" cy="1508760"/>
          </a:xfrm>
        </p:spPr>
        <p:txBody>
          <a:bodyPr>
            <a:normAutofit/>
          </a:bodyPr>
          <a:lstStyle>
            <a:lvl1pPr marL="0" indent="0" algn="ctr">
              <a:buNone/>
              <a:defRPr sz="4800" baseline="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25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07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1"/>
            <a:ext cx="9144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768096"/>
            <a:ext cx="7701534" cy="3136392"/>
          </a:xfrm>
        </p:spPr>
        <p:txBody>
          <a:bodyPr anchor="b">
            <a:normAutofit/>
          </a:bodyPr>
          <a:lstStyle>
            <a:lvl1pPr>
              <a:defRPr sz="9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0" y="4544568"/>
            <a:ext cx="7701534" cy="1545336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43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090" y="2587752"/>
            <a:ext cx="3611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9744" y="2583371"/>
            <a:ext cx="361188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1" y="2587752"/>
            <a:ext cx="3614166" cy="892048"/>
          </a:xfrm>
        </p:spPr>
        <p:txBody>
          <a:bodyPr anchor="ctr"/>
          <a:lstStyle>
            <a:lvl1pPr marL="0" indent="0">
              <a:buNone/>
              <a:defRPr sz="3467" b="0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90" y="3594538"/>
            <a:ext cx="3614166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07458" y="2587752"/>
            <a:ext cx="3614166" cy="892048"/>
          </a:xfrm>
        </p:spPr>
        <p:txBody>
          <a:bodyPr anchor="ctr"/>
          <a:lstStyle>
            <a:lvl1pPr marL="0" indent="0">
              <a:buNone/>
              <a:defRPr sz="3467" b="0" cap="all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07458" y="3594538"/>
            <a:ext cx="3614166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517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4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2591850"/>
            <a:ext cx="4534233" cy="35935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0090" y="2591851"/>
            <a:ext cx="2858929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977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4928602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26978" y="2587752"/>
            <a:ext cx="2994642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734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2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5331206" y="0"/>
            <a:ext cx="381279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813805" y="643468"/>
            <a:ext cx="2607819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0091" y="643467"/>
            <a:ext cx="4128515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3423" y="6356351"/>
            <a:ext cx="18920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2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1"/>
            <a:ext cx="9144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317814"/>
            <a:ext cx="7701534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90" y="2587752"/>
            <a:ext cx="7701534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7790" y="6356351"/>
            <a:ext cx="2427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600" spc="67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12/16/2025</a:t>
            </a:fld>
            <a:endParaRPr lang="en-US" spc="67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0090" y="6356351"/>
            <a:ext cx="4128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7" cap="all" spc="67" baseline="0">
                <a:solidFill>
                  <a:schemeClr val="tx1"/>
                </a:solidFill>
              </a:defRPr>
            </a:lvl1pPr>
          </a:lstStyle>
          <a:p>
            <a:endParaRPr lang="en-US" spc="67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22108" y="6356351"/>
            <a:ext cx="699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23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0" y="768096"/>
            <a:ext cx="7701534" cy="3136392"/>
          </a:xfrm>
        </p:spPr>
        <p:txBody>
          <a:bodyPr anchor="b">
            <a:normAutofit/>
          </a:bodyPr>
          <a:lstStyle/>
          <a:p>
            <a:r>
              <a:rPr lang="en-US" sz="6700" err="1"/>
              <a:t>SpotFi</a:t>
            </a:r>
            <a:r>
              <a:rPr lang="en-US" sz="6700"/>
              <a:t>: Decimeter Level Localization Using </a:t>
            </a:r>
            <a:r>
              <a:rPr lang="en-US" sz="6700" err="1"/>
              <a:t>WiFi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4983661" y="5669425"/>
            <a:ext cx="4054821" cy="955694"/>
          </a:xfrm>
        </p:spPr>
        <p:txBody>
          <a:bodyPr vert="horz" lIns="68580" tIns="34290" rIns="68580" bIns="34290" rtlCol="0" anchor="t">
            <a:normAutofit/>
          </a:bodyPr>
          <a:lstStyle/>
          <a:p>
            <a:pPr>
              <a:lnSpc>
                <a:spcPct val="91000"/>
              </a:lnSpc>
            </a:pPr>
            <a:r>
              <a:rPr lang="en-US" sz="1800"/>
              <a:t>Matthew Fiorenza, fiorem2@rpi.edu</a:t>
            </a:r>
          </a:p>
          <a:p>
            <a:pPr>
              <a:lnSpc>
                <a:spcPct val="91000"/>
              </a:lnSpc>
            </a:pPr>
            <a:r>
              <a:rPr lang="en-US" sz="1800"/>
              <a:t>Raj </a:t>
            </a:r>
            <a:r>
              <a:rPr lang="en-US" sz="1800" err="1"/>
              <a:t>Bakhunchhe</a:t>
            </a:r>
            <a:r>
              <a:rPr lang="en-US" sz="1800"/>
              <a:t>, bakhur@rpi.edu</a:t>
            </a:r>
          </a:p>
          <a:p>
            <a:pPr>
              <a:lnSpc>
                <a:spcPct val="91000"/>
              </a:lnSpc>
            </a:pPr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48A9A-38A2-4B9E-0544-8E01CCBC9152}"/>
              </a:ext>
            </a:extLst>
          </p:cNvPr>
          <p:cNvSpPr txBox="1"/>
          <p:nvPr/>
        </p:nvSpPr>
        <p:spPr>
          <a:xfrm>
            <a:off x="3502786" y="4546325"/>
            <a:ext cx="21403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12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EDA3-6ABB-9A2F-8D5F-07784918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317814"/>
            <a:ext cx="7701534" cy="1700784"/>
          </a:xfrm>
        </p:spPr>
        <p:txBody>
          <a:bodyPr anchor="ctr">
            <a:normAutofit/>
          </a:bodyPr>
          <a:lstStyle/>
          <a:p>
            <a:r>
              <a:rPr lang="en-US" sz="5600"/>
              <a:t>Background: </a:t>
            </a:r>
            <a:r>
              <a:rPr lang="en-US" sz="5600" err="1"/>
              <a:t>SpotFi</a:t>
            </a:r>
            <a:r>
              <a:rPr lang="en-US" sz="5600"/>
              <a:t> &amp; </a:t>
            </a:r>
            <a:r>
              <a:rPr lang="en-US" sz="5600" err="1"/>
              <a:t>AoA</a:t>
            </a:r>
            <a:r>
              <a:rPr lang="en-US" sz="5600"/>
              <a:t> Estimation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53A9AC9-8BB5-CC1E-CCA0-63A39D6E1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8986857"/>
              </p:ext>
            </p:extLst>
          </p:nvPr>
        </p:nvGraphicFramePr>
        <p:xfrm>
          <a:off x="720090" y="2587752"/>
          <a:ext cx="7701534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966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77DBD-72E1-0FAE-78FC-7FB11340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SpotFi</a:t>
            </a:r>
            <a:r>
              <a:rPr lang="en-US"/>
              <a:t> steps</a:t>
            </a:r>
          </a:p>
        </p:txBody>
      </p:sp>
      <p:pic>
        <p:nvPicPr>
          <p:cNvPr id="4" name="Content Placeholder 3" descr="A diagram of a system&#10;&#10;AI-generated content may be incorrect.">
            <a:extLst>
              <a:ext uri="{FF2B5EF4-FFF2-40B4-BE49-F238E27FC236}">
                <a16:creationId xmlns:a16="http://schemas.microsoft.com/office/drawing/2014/main" id="{71040871-5269-E392-F29D-C13229FC8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0189" y="2773009"/>
            <a:ext cx="4609192" cy="318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809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8326-0162-FA32-ED81-C8FA96FDD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/>
              <a:t>MUSIC Algorithm: Joint </a:t>
            </a:r>
            <a:r>
              <a:rPr lang="en-US" sz="5400" err="1"/>
              <a:t>AoA</a:t>
            </a:r>
            <a:r>
              <a:rPr lang="en-US" sz="5400"/>
              <a:t> and </a:t>
            </a:r>
            <a:r>
              <a:rPr lang="en-US" sz="5400" err="1"/>
              <a:t>ToF</a:t>
            </a:r>
            <a:r>
              <a:rPr lang="en-US" sz="5400"/>
              <a:t>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9E53-11A2-58FE-88ED-2AD978DA8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" y="2315610"/>
            <a:ext cx="7701534" cy="4237662"/>
          </a:xfrm>
        </p:spPr>
        <p:txBody>
          <a:bodyPr vert="horz" lIns="68580" tIns="34290" rIns="68580" bIns="34290" rtlCol="0" anchor="t">
            <a:normAutofit fontScale="85000" lnSpcReduction="20000"/>
          </a:bodyPr>
          <a:lstStyle/>
          <a:p>
            <a:r>
              <a:rPr lang="en-US" sz="1600"/>
              <a:t>MUSIC = </a:t>
            </a:r>
            <a:r>
              <a:rPr lang="en-US" sz="1600" b="1" err="1"/>
              <a:t>MU</a:t>
            </a:r>
            <a:r>
              <a:rPr lang="en-US" sz="1600" err="1"/>
              <a:t>ltiple</a:t>
            </a:r>
            <a:r>
              <a:rPr lang="en-US" sz="1600"/>
              <a:t> </a:t>
            </a:r>
            <a:r>
              <a:rPr lang="en-US" sz="1600" b="1" err="1"/>
              <a:t>SI</a:t>
            </a:r>
            <a:r>
              <a:rPr lang="en-US" sz="1600" err="1"/>
              <a:t>gnal</a:t>
            </a:r>
            <a:r>
              <a:rPr lang="en-US" sz="1600"/>
              <a:t> </a:t>
            </a:r>
            <a:r>
              <a:rPr lang="en-US" sz="1600" b="1"/>
              <a:t>C</a:t>
            </a:r>
            <a:r>
              <a:rPr lang="en-US" sz="1600"/>
              <a:t>lassification</a:t>
            </a:r>
          </a:p>
          <a:p>
            <a:r>
              <a:rPr lang="en-US" sz="1400"/>
              <a:t>Assumes received signal : </a:t>
            </a:r>
            <a:endParaRPr lang="en-US" sz="1400" b="1">
              <a:latin typeface="Aptos"/>
              <a:ea typeface="Calibri"/>
              <a:cs typeface="Calibri"/>
            </a:endParaRPr>
          </a:p>
          <a:p>
            <a:endParaRPr lang="en-US" sz="1100">
              <a:ea typeface="Calibri"/>
              <a:cs typeface="Calibri"/>
            </a:endParaRPr>
          </a:p>
          <a:p>
            <a:endParaRPr lang="en-US" sz="1400">
              <a:latin typeface="Aptos"/>
              <a:ea typeface="Calibri"/>
              <a:cs typeface="Calibri"/>
            </a:endParaRPr>
          </a:p>
          <a:p>
            <a:endParaRPr lang="en-US" sz="1400">
              <a:latin typeface="Aptos"/>
              <a:ea typeface="Calibri"/>
              <a:cs typeface="Calibri"/>
            </a:endParaRPr>
          </a:p>
          <a:p>
            <a:endParaRPr lang="en-US" sz="1400">
              <a:latin typeface="Aptos"/>
              <a:ea typeface="Calibri"/>
              <a:cs typeface="Calibri"/>
            </a:endParaRPr>
          </a:p>
          <a:p>
            <a:r>
              <a:rPr lang="en-US" sz="1600">
                <a:latin typeface="Franklin Gothic Medium"/>
                <a:ea typeface="Calibri"/>
                <a:cs typeface="Calibri"/>
              </a:rPr>
              <a:t>Steps</a:t>
            </a:r>
            <a:endParaRPr lang="en-US">
              <a:latin typeface="Franklin Gothic Medium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Form covariance matrix R=XX^H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Eigenvalue decomposition: R=E</a:t>
            </a:r>
            <a:r>
              <a:rPr lang="en-US" sz="1600">
                <a:ea typeface="+mn-lt"/>
                <a:cs typeface="+mn-lt"/>
              </a:rPr>
              <a:t>ΛE^H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Separate signal (E_s) and noise (</a:t>
            </a:r>
            <a:r>
              <a:rPr lang="en-US" sz="1600" err="1">
                <a:latin typeface="Franklin Gothic Medium"/>
                <a:ea typeface="Calibri"/>
                <a:cs typeface="Calibri"/>
              </a:rPr>
              <a:t>E_n</a:t>
            </a:r>
            <a:r>
              <a:rPr lang="en-US" sz="1600">
                <a:latin typeface="Franklin Gothic Medium"/>
                <a:ea typeface="Calibri"/>
                <a:cs typeface="Calibri"/>
              </a:rPr>
              <a:t>) subspaces using eigenvalue gaps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Construct steering vectors a(θ)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MUSIC spectrum: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Peak of P(θ) corresponds to </a:t>
            </a:r>
            <a:r>
              <a:rPr lang="en-US" sz="1600" err="1">
                <a:latin typeface="Franklin Gothic Medium"/>
                <a:ea typeface="Calibri"/>
                <a:cs typeface="Calibri"/>
              </a:rPr>
              <a:t>AoA</a:t>
            </a:r>
            <a:r>
              <a:rPr lang="en-US" sz="1600">
                <a:latin typeface="Franklin Gothic Medium"/>
                <a:ea typeface="Calibri"/>
                <a:cs typeface="Calibri"/>
              </a:rPr>
              <a:t> estimate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latin typeface="Franklin Gothic Medium"/>
                <a:ea typeface="Calibri"/>
                <a:cs typeface="Calibri"/>
              </a:rPr>
              <a:t>Enables super-resolution beyond classical beamforming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63724B-50E4-C6DE-4BE7-C4D28BFC1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01" y="2642830"/>
            <a:ext cx="1450181" cy="292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38F92-EED9-5A28-C9D5-486E4CAF0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863" y="2566035"/>
            <a:ext cx="2581275" cy="400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8DF90-7522-6E7F-5119-B36A05EDD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168" y="3104198"/>
            <a:ext cx="3895725" cy="466725"/>
          </a:xfrm>
          <a:prstGeom prst="rect">
            <a:avLst/>
          </a:prstGeom>
        </p:spPr>
      </p:pic>
      <p:pic>
        <p:nvPicPr>
          <p:cNvPr id="9" name="Picture 8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9CF72082-6364-3B93-71DB-4AEFBF74E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785" y="3052763"/>
            <a:ext cx="2941320" cy="546735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34F923-E8B6-C76C-1C6B-9495E50787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643" y="3604260"/>
            <a:ext cx="3472815" cy="6438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854863-001E-1E64-A29C-1AF19B65E2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2715" y="5575935"/>
            <a:ext cx="1764030" cy="40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98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F76B-F723-4FA3-2CE7-FB13959F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90" y="317814"/>
            <a:ext cx="7701534" cy="1700784"/>
          </a:xfrm>
        </p:spPr>
        <p:txBody>
          <a:bodyPr anchor="ctr">
            <a:normAutofit/>
          </a:bodyPr>
          <a:lstStyle/>
          <a:p>
            <a:r>
              <a:rPr lang="en-US" sz="4100"/>
              <a:t>Dataset: </a:t>
            </a:r>
            <a:r>
              <a:rPr lang="en-US" sz="4100" err="1"/>
              <a:t>WiFi</a:t>
            </a:r>
            <a:r>
              <a:rPr lang="en-US" sz="4100"/>
              <a:t> Indoor Localization Dataset (WILD-v2)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303AF4-E2A9-CEC4-FE8E-950446109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4545371"/>
              </p:ext>
            </p:extLst>
          </p:nvPr>
        </p:nvGraphicFramePr>
        <p:xfrm>
          <a:off x="720090" y="2596823"/>
          <a:ext cx="7701534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148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D77-47F0-67BC-0E98-8C8E71E2A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Scene description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3757C0-F91B-82DB-F54C-FBA10AAD5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0354" b="266"/>
          <a:stretch>
            <a:fillRect/>
          </a:stretch>
        </p:blipFill>
        <p:spPr>
          <a:xfrm>
            <a:off x="947900" y="2599109"/>
            <a:ext cx="4301674" cy="35840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C58D6C-74B2-6474-5BF5-ECD4E5367815}"/>
              </a:ext>
            </a:extLst>
          </p:cNvPr>
          <p:cNvSpPr/>
          <p:nvPr/>
        </p:nvSpPr>
        <p:spPr>
          <a:xfrm>
            <a:off x="5798806" y="2878005"/>
            <a:ext cx="3341242" cy="2918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/>
              <a:buChar char="•"/>
            </a:pPr>
            <a:r>
              <a:rPr lang="en-US"/>
              <a:t>1 packet per location</a:t>
            </a:r>
          </a:p>
          <a:p>
            <a:pPr marL="285750" indent="-285750" algn="ctr">
              <a:buFont typeface="Arial"/>
              <a:buChar char="•"/>
            </a:pPr>
            <a:r>
              <a:rPr lang="en-US"/>
              <a:t>MUSIC needs multiple packets to detect multipaths</a:t>
            </a:r>
          </a:p>
          <a:p>
            <a:pPr marL="285750" indent="-285750" algn="ctr">
              <a:buFont typeface="Arial"/>
              <a:buChar char="•"/>
            </a:pPr>
            <a:r>
              <a:rPr lang="en-US"/>
              <a:t>Usual approach: take multiple packets for same location</a:t>
            </a:r>
          </a:p>
          <a:p>
            <a:pPr marL="285750" indent="-285750" algn="ctr">
              <a:buFont typeface="Arial"/>
              <a:buChar char="•"/>
            </a:pPr>
            <a:r>
              <a:rPr lang="en-US"/>
              <a:t>Our approach: take closely located location CSI as multiple packets</a:t>
            </a:r>
          </a:p>
        </p:txBody>
      </p:sp>
    </p:spTree>
    <p:extLst>
      <p:ext uri="{BB962C8B-B14F-4D97-AF65-F5344CB8AC3E}">
        <p14:creationId xmlns:p14="http://schemas.microsoft.com/office/powerpoint/2010/main" val="27918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2416-EA9A-201E-8AF2-2850E1F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FE85-DAA1-FA3E-1E69-7777F5D52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NARROWBAND VS </a:t>
            </a:r>
            <a:r>
              <a:rPr lang="en-US" err="1"/>
              <a:t>wIDEBAND</a:t>
            </a:r>
            <a:r>
              <a:rPr lang="en-US"/>
              <a:t> MUSIC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D6CB1F-CCBA-94BC-40D6-B000E1A21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Using narrowband (taking only first 30 subcarriers will have lower overall bandwidth)</a:t>
            </a:r>
          </a:p>
          <a:p>
            <a:pPr marL="457200" indent="-457200">
              <a:buChar char="•"/>
            </a:pPr>
            <a:r>
              <a:rPr lang="en-US"/>
              <a:t>We have 234 subcarriers</a:t>
            </a:r>
          </a:p>
          <a:p>
            <a:pPr marL="457200" indent="-457200">
              <a:buChar char="•"/>
            </a:pPr>
            <a:r>
              <a:rPr lang="en-US"/>
              <a:t>Take 30 subcarriers (uniformly spaced across 234 subcarriers)</a:t>
            </a:r>
          </a:p>
        </p:txBody>
      </p:sp>
    </p:spTree>
    <p:extLst>
      <p:ext uri="{BB962C8B-B14F-4D97-AF65-F5344CB8AC3E}">
        <p14:creationId xmlns:p14="http://schemas.microsoft.com/office/powerpoint/2010/main" val="464566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FFCE-5A54-47E8-C00B-37365A55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CSI SANITIZATION and smoothing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8947EE6-9B47-1D68-A45F-6557B3C0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650" y="2587752"/>
            <a:ext cx="6292413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7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75D1A-2EAE-CF71-1F0D-612AE14D3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CSI smoothing</a:t>
            </a:r>
          </a:p>
        </p:txBody>
      </p:sp>
      <p:pic>
        <p:nvPicPr>
          <p:cNvPr id="4" name="Content Placeholder 3" descr="A diagram of a car&#10;&#10;AI-generated content may be incorrect.">
            <a:extLst>
              <a:ext uri="{FF2B5EF4-FFF2-40B4-BE49-F238E27FC236}">
                <a16:creationId xmlns:a16="http://schemas.microsoft.com/office/drawing/2014/main" id="{4EA9B7CB-4C53-95F3-0C5B-1F58AD221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400" y="2664288"/>
            <a:ext cx="3377976" cy="3593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B6C149-8A4F-15FE-34D2-BEC27D1F4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574" y="3248891"/>
            <a:ext cx="46291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8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60B7-CE81-09C2-B6E8-B3CEBF9F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NARROWBAND VS </a:t>
            </a:r>
            <a:r>
              <a:rPr lang="en-US" err="1"/>
              <a:t>wIDEBAND</a:t>
            </a:r>
            <a:r>
              <a:rPr lang="en-US"/>
              <a:t> MUSIC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A32ECF4-7FF0-D5C6-4F3C-D49811510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3560" y="2669072"/>
            <a:ext cx="7374594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23C9-2E24-7094-A691-78D0FC96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Utilizing multiple packets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9D2F8D-E2FA-6E91-9EA5-F9BB07312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2909" y="2587752"/>
            <a:ext cx="4575895" cy="359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73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32A3-26C8-E98F-01D8-40C4D377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E4B8F-CCEF-749A-6639-A9BA80C7F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674" y="2276963"/>
            <a:ext cx="5981619" cy="45087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A2E0DA-F88D-F4FD-8837-D6FE72AE64E8}"/>
              </a:ext>
            </a:extLst>
          </p:cNvPr>
          <p:cNvSpPr txBox="1"/>
          <p:nvPr/>
        </p:nvSpPr>
        <p:spPr>
          <a:xfrm>
            <a:off x="6419343" y="3851606"/>
            <a:ext cx="2248700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Mean error = 3.67 m</a:t>
            </a:r>
          </a:p>
        </p:txBody>
      </p:sp>
    </p:spTree>
    <p:extLst>
      <p:ext uri="{BB962C8B-B14F-4D97-AF65-F5344CB8AC3E}">
        <p14:creationId xmlns:p14="http://schemas.microsoft.com/office/powerpoint/2010/main" val="2509454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ACC8-E1F1-3725-DE09-B4CAC068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D837F-BB62-A3F6-48E1-9FF1FCBD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Finding multi-packets datasets</a:t>
            </a:r>
          </a:p>
          <a:p>
            <a:pPr marL="457200" indent="-457200">
              <a:buChar char="•"/>
            </a:pPr>
            <a:r>
              <a:rPr lang="en-US"/>
              <a:t>Difficulty in finding clusters and peaks</a:t>
            </a:r>
          </a:p>
        </p:txBody>
      </p:sp>
    </p:spTree>
    <p:extLst>
      <p:ext uri="{BB962C8B-B14F-4D97-AF65-F5344CB8AC3E}">
        <p14:creationId xmlns:p14="http://schemas.microsoft.com/office/powerpoint/2010/main" val="1963537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D2F-714B-476C-2203-75B5E747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BB380-CB08-9117-9042-006E8B7AF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We implemented </a:t>
            </a:r>
            <a:r>
              <a:rPr lang="en-US" err="1"/>
              <a:t>Spotfi</a:t>
            </a:r>
            <a:r>
              <a:rPr lang="en-US"/>
              <a:t> algorithm for localization using publicly available dataset </a:t>
            </a:r>
          </a:p>
          <a:p>
            <a:pPr marL="457200" indent="-457200">
              <a:buChar char="•"/>
            </a:pPr>
            <a:r>
              <a:rPr lang="en-US"/>
              <a:t>More ablation study required to find optimal number of antennas, subcarriers, etc.</a:t>
            </a:r>
          </a:p>
          <a:p>
            <a:pPr marL="731520" lvl="1" indent="-457200">
              <a:buFont typeface="Courier New" panose="020B0604020202020204" pitchFamily="34" charset="0"/>
              <a:buChar char="o"/>
            </a:pPr>
            <a:r>
              <a:rPr lang="en-US"/>
              <a:t>Will include in final report</a:t>
            </a:r>
          </a:p>
          <a:p>
            <a:pPr marL="457200" indent="-457200">
              <a:buChar char="•"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212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09BF-2596-D2CB-8C1D-4694D9BB2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D40D16-ECD6-0E7F-B6C3-6A7862496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5486372"/>
              </p:ext>
            </p:extLst>
          </p:nvPr>
        </p:nvGraphicFramePr>
        <p:xfrm>
          <a:off x="720725" y="2587625"/>
          <a:ext cx="7700962" cy="10284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1944">
                  <a:extLst>
                    <a:ext uri="{9D8B030D-6E8A-4147-A177-3AD203B41FA5}">
                      <a16:colId xmlns:a16="http://schemas.microsoft.com/office/drawing/2014/main" val="1592511399"/>
                    </a:ext>
                  </a:extLst>
                </a:gridCol>
                <a:gridCol w="7429018">
                  <a:extLst>
                    <a:ext uri="{9D8B030D-6E8A-4147-A177-3AD203B41FA5}">
                      <a16:colId xmlns:a16="http://schemas.microsoft.com/office/drawing/2014/main" val="8210177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00"/>
                        </a:lnSpc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50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Kanishka and Roshan </a:t>
                      </a:r>
                      <a:r>
                        <a:rPr lang="en-US" sz="1100" b="0" i="0" u="none" strike="noStrike" noProof="0" dirty="0" err="1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Ayyalasomayajula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</a:rPr>
                        <a:t>. Wi-Fi Indoor Localization Dataset (WILD-v2). https://kaggle.com/competitions/wildv2, 2022. Kaggle.</a:t>
                      </a:r>
                    </a:p>
                    <a:p>
                      <a:pPr lvl="0" algn="l">
                        <a:lnSpc>
                          <a:spcPts val="1500"/>
                        </a:lnSpc>
                        <a:buNone/>
                      </a:pPr>
                      <a:endParaRPr lang="en-US" sz="1100" b="0" i="0" u="none" strike="noStrike" noProof="0" dirty="0">
                        <a:solidFill>
                          <a:srgbClr val="3C4043"/>
                        </a:solidFill>
                        <a:effectLst/>
                        <a:highlight>
                          <a:srgbClr val="FFFFFF"/>
                        </a:highlight>
                      </a:endParaRPr>
                    </a:p>
                    <a:p>
                      <a:pPr lvl="0" algn="l">
                        <a:lnSpc>
                          <a:spcPts val="150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M. </a:t>
                      </a:r>
                      <a:r>
                        <a:rPr lang="en-US" sz="1100" b="0" i="0" u="none" strike="noStrike" noProof="0" dirty="0" err="1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Kotaru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, K. Joshi, D. </a:t>
                      </a:r>
                      <a:r>
                        <a:rPr lang="en-US" sz="1100" b="0" i="0" u="none" strike="noStrike" noProof="0" dirty="0" err="1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Bharadia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, and S. Katti, “</a:t>
                      </a:r>
                      <a:r>
                        <a:rPr lang="en-US" sz="1100" b="0" i="0" u="none" strike="noStrike" noProof="0" dirty="0" err="1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SpotFi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: Decimeter Level Localization Using </a:t>
                      </a:r>
                      <a:r>
                        <a:rPr lang="en-US" sz="1100" b="0" i="0" u="none" strike="noStrike" noProof="0" dirty="0" err="1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WiFi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,” in </a:t>
                      </a:r>
                      <a:r>
                        <a:rPr lang="en-US" sz="1100" b="0" i="1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Proc. ACM SIGCOMM</a:t>
                      </a:r>
                      <a:r>
                        <a:rPr lang="en-US" sz="1100" b="0" i="0" u="none" strike="noStrike" noProof="0" dirty="0">
                          <a:solidFill>
                            <a:srgbClr val="3C4043"/>
                          </a:solidFill>
                          <a:effectLst/>
                          <a:highlight>
                            <a:srgbClr val="FFFFFF"/>
                          </a:highlight>
                          <a:latin typeface="Franklin Gothic Medium"/>
                        </a:rPr>
                        <a:t>, London, UK, 2015, pp. 269–282, doi:10.1145/2785956.2787487. </a:t>
                      </a:r>
                      <a:endParaRPr lang="en-U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6292315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JuxtaposeVTI</vt:lpstr>
      <vt:lpstr>SpotFi: Decimeter Level Localization Using WiFi</vt:lpstr>
      <vt:lpstr>Background: SpotFi &amp; AoA Estimation</vt:lpstr>
      <vt:lpstr>SpotFi steps</vt:lpstr>
      <vt:lpstr>MUSIC Algorithm: Joint AoA and ToF Estimation</vt:lpstr>
      <vt:lpstr>Dataset: WiFi Indoor Localization Dataset (WILD-v2)</vt:lpstr>
      <vt:lpstr>Scene description</vt:lpstr>
      <vt:lpstr>NARROWBAND VS wIDEBAND MUSIC</vt:lpstr>
      <vt:lpstr>CSI SANITIZATION and smoothing</vt:lpstr>
      <vt:lpstr>CSI smoothing</vt:lpstr>
      <vt:lpstr>NARROWBAND VS wIDEBAND MUSIC</vt:lpstr>
      <vt:lpstr>Utilizing multiple packets</vt:lpstr>
      <vt:lpstr>Results</vt:lpstr>
      <vt:lpstr>Challenges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46</cp:revision>
  <dcterms:created xsi:type="dcterms:W3CDTF">2025-12-11T18:16:03Z</dcterms:created>
  <dcterms:modified xsi:type="dcterms:W3CDTF">2025-12-16T19:52:02Z</dcterms:modified>
</cp:coreProperties>
</file>